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1" r:id="rId9"/>
    <p:sldId id="262" r:id="rId10"/>
    <p:sldId id="265" r:id="rId11"/>
    <p:sldId id="268" r:id="rId12"/>
    <p:sldId id="267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215A4-6D30-4784-A0F2-3E35A2D265EF}" v="16" dt="2026-01-31T04:50:58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Prasath" userId="8e92d123dc162648" providerId="LiveId" clId="{3285B254-DF89-4290-8323-0EBE6B67EFC5}"/>
    <pc:docChg chg="undo custSel delSld modSld">
      <pc:chgData name="Vishnu Prasath" userId="8e92d123dc162648" providerId="LiveId" clId="{3285B254-DF89-4290-8323-0EBE6B67EFC5}" dt="2026-01-31T04:51:20.118" v="516" actId="5793"/>
      <pc:docMkLst>
        <pc:docMk/>
      </pc:docMkLst>
      <pc:sldChg chg="modSp mod">
        <pc:chgData name="Vishnu Prasath" userId="8e92d123dc162648" providerId="LiveId" clId="{3285B254-DF89-4290-8323-0EBE6B67EFC5}" dt="2026-01-31T04:29:03.768" v="199" actId="20577"/>
        <pc:sldMkLst>
          <pc:docMk/>
          <pc:sldMk cId="0" sldId="256"/>
        </pc:sldMkLst>
        <pc:spChg chg="mod">
          <ac:chgData name="Vishnu Prasath" userId="8e92d123dc162648" providerId="LiveId" clId="{3285B254-DF89-4290-8323-0EBE6B67EFC5}" dt="2026-01-31T04:23:48.238" v="25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shnu Prasath" userId="8e92d123dc162648" providerId="LiveId" clId="{3285B254-DF89-4290-8323-0EBE6B67EFC5}" dt="2026-01-31T04:29:03.768" v="199" actId="20577"/>
          <ac:spMkLst>
            <pc:docMk/>
            <pc:sldMk cId="0" sldId="256"/>
            <ac:spMk id="5" creationId="{00000000-0000-0000-0000-000000000000}"/>
          </ac:spMkLst>
        </pc:spChg>
        <pc:graphicFrameChg chg="mod modGraphic">
          <ac:chgData name="Vishnu Prasath" userId="8e92d123dc162648" providerId="LiveId" clId="{3285B254-DF89-4290-8323-0EBE6B67EFC5}" dt="2026-01-31T04:27:37.463" v="153" actId="207"/>
          <ac:graphicFrameMkLst>
            <pc:docMk/>
            <pc:sldMk cId="0" sldId="256"/>
            <ac:graphicFrameMk id="7" creationId="{00000000-0000-0000-0000-000000000000}"/>
          </ac:graphicFrameMkLst>
        </pc:graphicFrameChg>
      </pc:sldChg>
      <pc:sldChg chg="modSp mod">
        <pc:chgData name="Vishnu Prasath" userId="8e92d123dc162648" providerId="LiveId" clId="{3285B254-DF89-4290-8323-0EBE6B67EFC5}" dt="2026-01-31T04:30:08.857" v="203"/>
        <pc:sldMkLst>
          <pc:docMk/>
          <pc:sldMk cId="0" sldId="258"/>
        </pc:sldMkLst>
        <pc:spChg chg="mod">
          <ac:chgData name="Vishnu Prasath" userId="8e92d123dc162648" providerId="LiveId" clId="{3285B254-DF89-4290-8323-0EBE6B67EFC5}" dt="2026-01-31T04:30:08.857" v="20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shnu Prasath" userId="8e92d123dc162648" providerId="LiveId" clId="{3285B254-DF89-4290-8323-0EBE6B67EFC5}" dt="2026-01-31T04:31:53.605" v="225" actId="5793"/>
        <pc:sldMkLst>
          <pc:docMk/>
          <pc:sldMk cId="0" sldId="259"/>
        </pc:sldMkLst>
        <pc:spChg chg="mod">
          <ac:chgData name="Vishnu Prasath" userId="8e92d123dc162648" providerId="LiveId" clId="{3285B254-DF89-4290-8323-0EBE6B67EFC5}" dt="2026-01-31T04:31:53.605" v="225" actId="5793"/>
          <ac:spMkLst>
            <pc:docMk/>
            <pc:sldMk cId="0" sldId="259"/>
            <ac:spMk id="3" creationId="{361FF621-F0C6-02D9-4B41-F63A7573602A}"/>
          </ac:spMkLst>
        </pc:spChg>
      </pc:sldChg>
      <pc:sldChg chg="modSp mod">
        <pc:chgData name="Vishnu Prasath" userId="8e92d123dc162648" providerId="LiveId" clId="{3285B254-DF89-4290-8323-0EBE6B67EFC5}" dt="2026-01-31T04:34:41.491" v="273" actId="20577"/>
        <pc:sldMkLst>
          <pc:docMk/>
          <pc:sldMk cId="0" sldId="260"/>
        </pc:sldMkLst>
        <pc:spChg chg="mod">
          <ac:chgData name="Vishnu Prasath" userId="8e92d123dc162648" providerId="LiveId" clId="{3285B254-DF89-4290-8323-0EBE6B67EFC5}" dt="2026-01-31T04:34:41.491" v="27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ishnu Prasath" userId="8e92d123dc162648" providerId="LiveId" clId="{3285B254-DF89-4290-8323-0EBE6B67EFC5}" dt="2026-01-31T04:43:51.648" v="463" actId="5793"/>
        <pc:sldMkLst>
          <pc:docMk/>
          <pc:sldMk cId="0" sldId="261"/>
        </pc:sldMkLst>
        <pc:spChg chg="mod">
          <ac:chgData name="Vishnu Prasath" userId="8e92d123dc162648" providerId="LiveId" clId="{3285B254-DF89-4290-8323-0EBE6B67EFC5}" dt="2026-01-31T04:43:51.648" v="463" actId="5793"/>
          <ac:spMkLst>
            <pc:docMk/>
            <pc:sldMk cId="0" sldId="261"/>
            <ac:spMk id="7" creationId="{B3D75886-8E80-821F-9E22-2964F25BA08B}"/>
          </ac:spMkLst>
        </pc:spChg>
      </pc:sldChg>
      <pc:sldChg chg="modSp mod">
        <pc:chgData name="Vishnu Prasath" userId="8e92d123dc162648" providerId="LiveId" clId="{3285B254-DF89-4290-8323-0EBE6B67EFC5}" dt="2026-01-31T04:44:54.651" v="484" actId="5793"/>
        <pc:sldMkLst>
          <pc:docMk/>
          <pc:sldMk cId="0" sldId="262"/>
        </pc:sldMkLst>
        <pc:spChg chg="mod">
          <ac:chgData name="Vishnu Prasath" userId="8e92d123dc162648" providerId="LiveId" clId="{3285B254-DF89-4290-8323-0EBE6B67EFC5}" dt="2026-01-31T04:44:54.651" v="484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Vishnu Prasath" userId="8e92d123dc162648" providerId="LiveId" clId="{3285B254-DF89-4290-8323-0EBE6B67EFC5}" dt="2026-01-31T04:48:35.299" v="497" actId="20577"/>
        <pc:sldMkLst>
          <pc:docMk/>
          <pc:sldMk cId="0" sldId="265"/>
        </pc:sldMkLst>
        <pc:spChg chg="mod">
          <ac:chgData name="Vishnu Prasath" userId="8e92d123dc162648" providerId="LiveId" clId="{3285B254-DF89-4290-8323-0EBE6B67EFC5}" dt="2026-01-31T04:48:35.299" v="497" actId="20577"/>
          <ac:spMkLst>
            <pc:docMk/>
            <pc:sldMk cId="0" sldId="265"/>
            <ac:spMk id="7" creationId="{ADB27A0C-DDF8-0A25-87B4-6A1AC21EB214}"/>
          </ac:spMkLst>
        </pc:spChg>
      </pc:sldChg>
      <pc:sldChg chg="modSp mod">
        <pc:chgData name="Vishnu Prasath" userId="8e92d123dc162648" providerId="LiveId" clId="{3285B254-DF89-4290-8323-0EBE6B67EFC5}" dt="2026-01-31T04:51:20.118" v="516" actId="5793"/>
        <pc:sldMkLst>
          <pc:docMk/>
          <pc:sldMk cId="0" sldId="268"/>
        </pc:sldMkLst>
        <pc:spChg chg="mod">
          <ac:chgData name="Vishnu Prasath" userId="8e92d123dc162648" providerId="LiveId" clId="{3285B254-DF89-4290-8323-0EBE6B67EFC5}" dt="2026-01-31T04:51:20.118" v="516" actId="5793"/>
          <ac:spMkLst>
            <pc:docMk/>
            <pc:sldMk cId="0" sldId="268"/>
            <ac:spMk id="4" creationId="{00000000-0000-0000-0000-000000000000}"/>
          </ac:spMkLst>
        </pc:spChg>
      </pc:sldChg>
      <pc:sldChg chg="modSp del mod">
        <pc:chgData name="Vishnu Prasath" userId="8e92d123dc162648" providerId="LiveId" clId="{3285B254-DF89-4290-8323-0EBE6B67EFC5}" dt="2026-01-31T04:31:08.272" v="205" actId="2696"/>
        <pc:sldMkLst>
          <pc:docMk/>
          <pc:sldMk cId="1792491666" sldId="270"/>
        </pc:sldMkLst>
        <pc:spChg chg="mod">
          <ac:chgData name="Vishnu Prasath" userId="8e92d123dc162648" providerId="LiveId" clId="{3285B254-DF89-4290-8323-0EBE6B67EFC5}" dt="2026-01-31T04:30:20.636" v="204" actId="20577"/>
          <ac:spMkLst>
            <pc:docMk/>
            <pc:sldMk cId="1792491666" sldId="270"/>
            <ac:spMk id="3" creationId="{58AB30FE-2772-7330-9A5A-90DCF135BC13}"/>
          </ac:spMkLst>
        </pc:spChg>
      </pc:sldChg>
      <pc:sldChg chg="modSp mod">
        <pc:chgData name="Vishnu Prasath" userId="8e92d123dc162648" providerId="LiveId" clId="{3285B254-DF89-4290-8323-0EBE6B67EFC5}" dt="2026-01-31T04:36:39.162" v="286" actId="113"/>
        <pc:sldMkLst>
          <pc:docMk/>
          <pc:sldMk cId="541607954" sldId="271"/>
        </pc:sldMkLst>
        <pc:spChg chg="mod">
          <ac:chgData name="Vishnu Prasath" userId="8e92d123dc162648" providerId="LiveId" clId="{3285B254-DF89-4290-8323-0EBE6B67EFC5}" dt="2026-01-31T04:36:39.162" v="286" actId="113"/>
          <ac:spMkLst>
            <pc:docMk/>
            <pc:sldMk cId="541607954" sldId="271"/>
            <ac:spMk id="3" creationId="{39741E4E-7921-D9CE-83B4-0F3D67B45618}"/>
          </ac:spMkLst>
        </pc:spChg>
      </pc:sldChg>
      <pc:sldChg chg="modSp mod">
        <pc:chgData name="Vishnu Prasath" userId="8e92d123dc162648" providerId="LiveId" clId="{3285B254-DF89-4290-8323-0EBE6B67EFC5}" dt="2026-01-31T04:37:42.148" v="424" actId="14100"/>
        <pc:sldMkLst>
          <pc:docMk/>
          <pc:sldMk cId="2774833668" sldId="272"/>
        </pc:sldMkLst>
        <pc:spChg chg="mod">
          <ac:chgData name="Vishnu Prasath" userId="8e92d123dc162648" providerId="LiveId" clId="{3285B254-DF89-4290-8323-0EBE6B67EFC5}" dt="2026-01-31T04:37:42.148" v="424" actId="14100"/>
          <ac:spMkLst>
            <pc:docMk/>
            <pc:sldMk cId="2774833668" sldId="272"/>
            <ac:spMk id="3" creationId="{A0429E54-5F2E-BCA1-36B9-B0984A9984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8039" y="1434591"/>
            <a:ext cx="1077163" cy="9442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9905" y="1269237"/>
            <a:ext cx="3958589" cy="913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872" y="2744241"/>
            <a:ext cx="8388350" cy="3260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58572" y="6374187"/>
            <a:ext cx="1097280" cy="170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89466" y="6374187"/>
            <a:ext cx="167004" cy="170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‹#›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336" y="6453327"/>
            <a:ext cx="6019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-0</a:t>
            </a:r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  <a:endParaRPr sz="1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352" y="6453327"/>
            <a:ext cx="37001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52600" y="2523871"/>
            <a:ext cx="64008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300" dirty="0"/>
              <a:t>AI ROAD HAZARD DETECTOR</a:t>
            </a:r>
            <a:endParaRPr sz="3300" dirty="0"/>
          </a:p>
        </p:txBody>
      </p:sp>
      <p:sp>
        <p:nvSpPr>
          <p:cNvPr id="5" name="object 5"/>
          <p:cNvSpPr txBox="1"/>
          <p:nvPr/>
        </p:nvSpPr>
        <p:spPr>
          <a:xfrm>
            <a:off x="5582792" y="3438271"/>
            <a:ext cx="2206625" cy="10752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1950" b="1" spc="35" dirty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b="1" spc="-25" dirty="0">
                <a:solidFill>
                  <a:srgbClr val="4D8E34"/>
                </a:solidFill>
                <a:latin typeface="Times New Roman" panose="02020603050405020304"/>
                <a:cs typeface="Times New Roman" panose="02020603050405020304"/>
              </a:rPr>
              <a:t>BY,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650" spc="-1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IN" sz="1650" spc="-10" dirty="0" err="1">
                <a:latin typeface="Times New Roman" panose="02020603050405020304"/>
                <a:cs typeface="Times New Roman" panose="02020603050405020304"/>
              </a:rPr>
              <a:t>rs.S.DHIVYA</a:t>
            </a:r>
            <a:endParaRPr lang="en-US" sz="165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650" spc="-10" dirty="0">
                <a:latin typeface="Times New Roman" panose="02020603050405020304"/>
                <a:cs typeface="Times New Roman" panose="02020603050405020304"/>
              </a:rPr>
              <a:t> Assistant</a:t>
            </a:r>
            <a:r>
              <a:rPr sz="1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dirty="0">
                <a:latin typeface="Times New Roman" panose="02020603050405020304"/>
                <a:cs typeface="Times New Roman" panose="02020603050405020304"/>
              </a:rPr>
              <a:t>Professor</a:t>
            </a:r>
            <a:r>
              <a:rPr sz="1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5" dirty="0">
                <a:latin typeface="Times New Roman" panose="02020603050405020304"/>
                <a:cs typeface="Times New Roman" panose="02020603050405020304"/>
              </a:rPr>
              <a:t>CSE </a:t>
            </a:r>
            <a:r>
              <a:rPr sz="1650" spc="-20" dirty="0">
                <a:latin typeface="Times New Roman" panose="02020603050405020304"/>
                <a:cs typeface="Times New Roman" panose="02020603050405020304"/>
              </a:rPr>
              <a:t>SIET</a:t>
            </a:r>
            <a:endParaRPr sz="165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7344" y="1453896"/>
            <a:ext cx="6942074" cy="74066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18686"/>
              </p:ext>
            </p:extLst>
          </p:nvPr>
        </p:nvGraphicFramePr>
        <p:xfrm>
          <a:off x="843026" y="3447539"/>
          <a:ext cx="3957574" cy="2263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523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endParaRPr lang="en-IN" sz="1950" b="1" spc="-25" dirty="0">
                        <a:solidFill>
                          <a:srgbClr val="4D8E34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24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lang="en-IN" sz="18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PRESENTED BY:</a:t>
                      </a:r>
                      <a:endParaRPr sz="18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1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1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IN" sz="1650" dirty="0">
                          <a:latin typeface="Times New Roman" panose="02020603050405020304"/>
                          <a:cs typeface="Times New Roman" panose="02020603050405020304"/>
                        </a:rPr>
                        <a:t>SUGANTHAN S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7140231041</a:t>
                      </a:r>
                      <a:r>
                        <a:rPr lang="en-US" sz="1650" spc="-10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1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IN" sz="1650" dirty="0">
                          <a:latin typeface="Times New Roman" panose="02020603050405020304"/>
                          <a:cs typeface="Times New Roman" panose="02020603050405020304"/>
                        </a:rPr>
                        <a:t>VISHNU PRASATH P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7140231041</a:t>
                      </a:r>
                      <a:r>
                        <a:rPr lang="en-US" sz="1650" spc="-10" dirty="0">
                          <a:latin typeface="Times New Roman" panose="02020603050405020304"/>
                          <a:cs typeface="Times New Roman" panose="02020603050405020304"/>
                        </a:rPr>
                        <a:t>72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1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US" sz="1650" dirty="0">
                          <a:latin typeface="Times New Roman" panose="02020603050405020304"/>
                          <a:cs typeface="Times New Roman" panose="02020603050405020304"/>
                        </a:rPr>
                        <a:t>YUVA PRASAD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7140231041</a:t>
                      </a:r>
                      <a:r>
                        <a:rPr lang="en-US" sz="1650" spc="-10" dirty="0">
                          <a:latin typeface="Times New Roman" panose="02020603050405020304"/>
                          <a:cs typeface="Times New Roman" panose="02020603050405020304"/>
                        </a:rPr>
                        <a:t>79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88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II</a:t>
                      </a:r>
                      <a:r>
                        <a:rPr lang="en-US" sz="1650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–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CSE</a:t>
                      </a:r>
                      <a:r>
                        <a:rPr sz="1650" spc="39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50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ts val="1910"/>
                        </a:lnSpc>
                        <a:spcBef>
                          <a:spcPts val="530"/>
                        </a:spcBef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SIET.</a:t>
                      </a:r>
                      <a:endParaRPr sz="165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872" y="2794533"/>
            <a:ext cx="4046728" cy="211852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US" sz="1950" spc="-10" dirty="0">
                <a:latin typeface="Times New Roman" panose="02020603050405020304"/>
                <a:cs typeface="Times New Roman" panose="02020603050405020304"/>
              </a:rPr>
              <a:t> ABSTRACT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US" sz="1950" spc="-10" dirty="0">
                <a:latin typeface="Times New Roman" panose="02020603050405020304"/>
                <a:cs typeface="Times New Roman" panose="02020603050405020304"/>
              </a:rPr>
              <a:t>PROBLEM STATEMENT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US" sz="1950" dirty="0">
                <a:latin typeface="Times New Roman" panose="02020603050405020304"/>
                <a:cs typeface="Times New Roman" panose="02020603050405020304"/>
              </a:rPr>
              <a:t>WORKFLOW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US" sz="1950" spc="-10" dirty="0">
                <a:latin typeface="Times New Roman" panose="02020603050405020304"/>
                <a:cs typeface="Times New Roman" panose="02020603050405020304"/>
              </a:rPr>
              <a:t>TECHNOLOGY USED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US" sz="1950" spc="-10" dirty="0">
                <a:latin typeface="Times New Roman" panose="02020603050405020304"/>
                <a:cs typeface="Times New Roman" panose="02020603050405020304"/>
              </a:rPr>
              <a:t>FEATURES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58572" y="6374187"/>
            <a:ext cx="10972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-0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588" y="6374187"/>
            <a:ext cx="37001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2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936" rIns="0" bIns="0" rtlCol="0">
            <a:spAutoFit/>
          </a:bodyPr>
          <a:lstStyle/>
          <a:p>
            <a:pPr marL="11614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905" y="1269237"/>
            <a:ext cx="3958589" cy="834587"/>
          </a:xfrm>
          <a:prstGeom prst="rect">
            <a:avLst/>
          </a:prstGeom>
        </p:spPr>
        <p:txBody>
          <a:bodyPr vert="horz" wrap="square" lIns="0" tIns="376936" rIns="0" bIns="0" rtlCol="0">
            <a:spAutoFit/>
          </a:bodyPr>
          <a:lstStyle/>
          <a:p>
            <a:pPr marL="90233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ABSTRACT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58572" y="6374187"/>
            <a:ext cx="10972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2-0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588" y="6374187"/>
            <a:ext cx="37001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3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872" y="2846959"/>
            <a:ext cx="8602598" cy="3339376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r>
              <a:rPr lang="en-US" sz="1950" dirty="0">
                <a:latin typeface="Calibri" panose="020F0502020204030204"/>
                <a:cs typeface="Calibri" panose="020F0502020204030204"/>
              </a:rPr>
              <a:t>Road accidents caused by poor road conditions such as potholes and surface cracks are a serious concern in both urban and rural areas. Traditional road inspection methods are manual, time-consuming, and inefficient, leading to delayed maintenance and increased safety risks. To address this issue, the AI Road Hazard Detector is proposed as a smart mobile-based system that identifies road hazards in real time using computer vision techniques. The system uses a smartphone camera to capture live road video, applies AI models to detect potholes and cracks, and records their exact GPS locations in a centralized cloud database. The detected hazards are displayed on a shared hazard map accessible to drivers and road authorities, enabling early warnings, improved road safety, and faster, data-driven road maintenance.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1143000"/>
            <a:ext cx="4876800" cy="834587"/>
          </a:xfrm>
          <a:prstGeom prst="rect">
            <a:avLst/>
          </a:prstGeom>
        </p:spPr>
        <p:txBody>
          <a:bodyPr vert="horz" wrap="square" lIns="0" tIns="376936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PROBLEM STATEMENT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58572" y="6374187"/>
            <a:ext cx="111302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2-0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588" y="6374187"/>
            <a:ext cx="37001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4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1FF621-F0C6-02D9-4B41-F63A75736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050702"/>
            <a:ext cx="75756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Poor road conditions such as potholes and cracks cause accidents, vehicle damage, and increased maintenance costs, posing serious safety risks to commuters.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Manual and traditional road inspection methods are slow, labor-intensive, and ineffective in providing real-time updates on road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Lack of accurate, GPS-based location data makes it difficult for authorities to identify, prioritize, and repair hazardous road sections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Absence of an automated, low-cost, and scalable monitoring system delays hazard detection and negatively impacts smart city road management..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1269237"/>
            <a:ext cx="3122294" cy="834587"/>
          </a:xfrm>
          <a:prstGeom prst="rect">
            <a:avLst/>
          </a:prstGeom>
        </p:spPr>
        <p:txBody>
          <a:bodyPr vert="horz" wrap="square" lIns="0" tIns="376936" rIns="0" bIns="0" rtlCol="0">
            <a:spAutoFit/>
          </a:bodyPr>
          <a:lstStyle/>
          <a:p>
            <a:pPr marL="25273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WORKFLOW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58572" y="6374187"/>
            <a:ext cx="10972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2-0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588" y="6374187"/>
            <a:ext cx="37001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5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282" y="2514600"/>
            <a:ext cx="8839835" cy="1084142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1: Problem Analysis &amp; Requirement Gathering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road safety issues caused by potholes and cracks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existing road inspection methods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project objectives and scope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required hardware and software tools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basic system architecture</a:t>
            </a: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sz="19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82D4-139A-DC79-04B6-E59514C7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1E4E-7921-D9CE-83B4-0F3D67B45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024" y="2192423"/>
            <a:ext cx="8388350" cy="5401479"/>
          </a:xfrm>
        </p:spPr>
        <p:txBody>
          <a:bodyPr/>
          <a:lstStyle/>
          <a:p>
            <a:endParaRPr lang="en-US" dirty="0"/>
          </a:p>
          <a:p>
            <a:r>
              <a:rPr lang="en-US" b="0" dirty="0"/>
              <a:t>Week 2: Data Collection &amp; Application Setup</a:t>
            </a:r>
          </a:p>
          <a:p>
            <a:endParaRPr lang="en-US" b="0" dirty="0"/>
          </a:p>
          <a:p>
            <a:r>
              <a:rPr lang="en-US" b="0" dirty="0"/>
              <a:t>Collect road images and videos for training/testing</a:t>
            </a:r>
          </a:p>
          <a:p>
            <a:endParaRPr lang="en-US" b="0" dirty="0"/>
          </a:p>
          <a:p>
            <a:r>
              <a:rPr lang="en-US" b="0" dirty="0"/>
              <a:t>Set up mobile application environment</a:t>
            </a:r>
          </a:p>
          <a:p>
            <a:endParaRPr lang="en-US" b="0" dirty="0"/>
          </a:p>
          <a:p>
            <a:r>
              <a:rPr lang="en-US" b="0" dirty="0"/>
              <a:t>Integrate smartphone camera and GPS access</a:t>
            </a:r>
          </a:p>
          <a:p>
            <a:endParaRPr lang="en-US" b="0" dirty="0"/>
          </a:p>
          <a:p>
            <a:r>
              <a:rPr lang="en-US" b="0" dirty="0"/>
              <a:t>Prepare dataset for pothole and crack detection</a:t>
            </a:r>
          </a:p>
          <a:p>
            <a:endParaRPr lang="en-US" b="0" dirty="0"/>
          </a:p>
          <a:p>
            <a:r>
              <a:rPr lang="en-US" b="0" dirty="0"/>
              <a:t>Week 3: AI Model Development &amp; Hazard Detection</a:t>
            </a:r>
          </a:p>
          <a:p>
            <a:endParaRPr lang="en-US" b="0" dirty="0"/>
          </a:p>
          <a:p>
            <a:r>
              <a:rPr lang="en-US" b="0" dirty="0"/>
              <a:t>Preprocess images and video frames</a:t>
            </a:r>
          </a:p>
          <a:p>
            <a:endParaRPr lang="en-US" b="0" dirty="0"/>
          </a:p>
          <a:p>
            <a:r>
              <a:rPr lang="en-US" b="0" dirty="0"/>
              <a:t>Train AI / computer vision model for hazard detection</a:t>
            </a:r>
          </a:p>
          <a:p>
            <a:endParaRPr lang="en-US" b="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8868-758B-F14F-5FCC-14A9D72A0E9F}"/>
              </a:ext>
            </a:extLst>
          </p:cNvPr>
          <p:cNvSpPr txBox="1"/>
          <p:nvPr/>
        </p:nvSpPr>
        <p:spPr>
          <a:xfrm>
            <a:off x="381000" y="7086600"/>
            <a:ext cx="6781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12-07-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lang="en-US"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lang="en-US"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18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endParaRPr lang="en-US" sz="1800" spc="-20" dirty="0">
              <a:solidFill>
                <a:srgbClr val="7BC45F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60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C1DE-A8C6-E394-5B53-15EA6978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29E54-5F2E-BCA1-36B9-B0984A99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872" y="2057401"/>
            <a:ext cx="8388350" cy="5029199"/>
          </a:xfrm>
        </p:spPr>
        <p:txBody>
          <a:bodyPr/>
          <a:lstStyle/>
          <a:p>
            <a:endParaRPr lang="en-US" dirty="0"/>
          </a:p>
          <a:p>
            <a:r>
              <a:rPr lang="en-US" b="0" dirty="0"/>
              <a:t>Week 4: GPS Integration &amp; Cloud Mapping</a:t>
            </a:r>
          </a:p>
          <a:p>
            <a:endParaRPr lang="en-US" b="0" dirty="0"/>
          </a:p>
          <a:p>
            <a:r>
              <a:rPr lang="en-US" b="0" dirty="0"/>
              <a:t>Integrate GPS module for location tagging</a:t>
            </a:r>
          </a:p>
          <a:p>
            <a:endParaRPr lang="en-US" b="0" dirty="0"/>
          </a:p>
          <a:p>
            <a:r>
              <a:rPr lang="en-US" b="0" dirty="0"/>
              <a:t>Store detected hazard data in cloud database</a:t>
            </a:r>
          </a:p>
          <a:p>
            <a:endParaRPr lang="en-US" b="0" dirty="0"/>
          </a:p>
          <a:p>
            <a:r>
              <a:rPr lang="en-US" b="0" dirty="0"/>
              <a:t>Develop shared hazard map visualization</a:t>
            </a:r>
          </a:p>
          <a:p>
            <a:endParaRPr lang="en-US" b="0" dirty="0"/>
          </a:p>
          <a:p>
            <a:r>
              <a:rPr lang="en-US" b="0" dirty="0"/>
              <a:t>Enable data access for users and authorities</a:t>
            </a:r>
          </a:p>
          <a:p>
            <a:endParaRPr lang="en-US" b="0" dirty="0"/>
          </a:p>
          <a:p>
            <a:r>
              <a:rPr lang="en-US" b="0" dirty="0"/>
              <a:t>Week 5: Testing, Evaluation &amp; Deployment</a:t>
            </a:r>
          </a:p>
          <a:p>
            <a:endParaRPr lang="en-US" b="0" dirty="0"/>
          </a:p>
          <a:p>
            <a:r>
              <a:rPr lang="en-US" b="0" dirty="0"/>
              <a:t>Perform real-time testing on different road conditions</a:t>
            </a:r>
          </a:p>
          <a:p>
            <a:endParaRPr lang="en-US" b="0" dirty="0"/>
          </a:p>
          <a:p>
            <a:r>
              <a:rPr lang="en-US" b="0" dirty="0"/>
              <a:t>Analyze system accuracy and response time</a:t>
            </a:r>
          </a:p>
          <a:p>
            <a:endParaRPr lang="en-US" b="0" dirty="0"/>
          </a:p>
          <a:p>
            <a:r>
              <a:rPr lang="en-US" b="0" dirty="0"/>
              <a:t>Fix errors and improve performance</a:t>
            </a:r>
          </a:p>
          <a:p>
            <a:endParaRPr lang="en-US" b="0" dirty="0"/>
          </a:p>
          <a:p>
            <a:endParaRPr lang="en-US" b="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7513E-1ACB-F32D-8899-CBE96CD74049}"/>
              </a:ext>
            </a:extLst>
          </p:cNvPr>
          <p:cNvSpPr txBox="1"/>
          <p:nvPr/>
        </p:nvSpPr>
        <p:spPr>
          <a:xfrm>
            <a:off x="381000" y="7086600"/>
            <a:ext cx="6248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12-07-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lang="en-US"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lang="en-US"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endParaRPr lang="en-US" sz="1000" spc="-20" dirty="0">
              <a:solidFill>
                <a:srgbClr val="7BC45F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833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905" y="1269237"/>
            <a:ext cx="3958589" cy="834587"/>
          </a:xfrm>
          <a:prstGeom prst="rect">
            <a:avLst/>
          </a:prstGeom>
        </p:spPr>
        <p:txBody>
          <a:bodyPr vert="horz" wrap="square" lIns="0" tIns="376936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TECHNOLOGY USED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22-02-</a:t>
            </a:r>
            <a:r>
              <a:rPr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588" y="6374187"/>
            <a:ext cx="37001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sz="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50" dirty="0">
                <a:latin typeface="Times New Roman" panose="02020603050405020304"/>
                <a:cs typeface="Times New Roman" panose="02020603050405020304"/>
              </a:rPr>
              <a:t>8</a:t>
            </a:fld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3D75886-8E80-821F-9E22-2964F25BA0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" y="1337526"/>
            <a:ext cx="874687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Flutter (Dart)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Builds a cross-platform mobile application to display live camera feed, hazard alerts, and road hazard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backend logic, AI model integration, GPS processing, and communication with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 OpenCV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live video frames to detect potholes and road surface cracks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/ AI: TensorFlow / </a:t>
            </a:r>
            <a:r>
              <a:rPr kumimoji="0" lang="en-US" altLang="en-US" sz="19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Trains and deploys AI models for accurate road hazard detection from images and videos.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905" y="1269237"/>
            <a:ext cx="5560695" cy="909993"/>
          </a:xfrm>
          <a:prstGeom prst="rect">
            <a:avLst/>
          </a:prstGeom>
        </p:spPr>
        <p:txBody>
          <a:bodyPr vert="horz" wrap="square" lIns="0" tIns="352552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/>
              <a:t>TECHNOLOGY USED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30" dirty="0"/>
              <a:t>9</a:t>
            </a:fld>
            <a:endParaRPr spc="-3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68761" y="2286000"/>
            <a:ext cx="8388350" cy="282897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r>
              <a:rPr lang="en-US" b="0" dirty="0"/>
              <a:t>Location Services: GPS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dirty="0"/>
              <a:t>Captures precise latitude and longitude of detected road hazards.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algn="just"/>
            <a:r>
              <a:rPr lang="en-US" sz="1800" b="0" dirty="0"/>
              <a:t>Database: Firebase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dirty="0"/>
              <a:t>Stores and synchronizes road hazard data such as images, locations, and timestamps in real time.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algn="just"/>
            <a:r>
              <a:rPr lang="en-US" sz="1800" b="0" dirty="0"/>
              <a:t>Mapping Service: Google Maps API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dirty="0"/>
              <a:t>Displays detected road hazards on an interactive map for drivers and road authorities.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CAC78-E7F2-F450-C13F-3B41E20AEF38}"/>
              </a:ext>
            </a:extLst>
          </p:cNvPr>
          <p:cNvSpPr txBox="1"/>
          <p:nvPr/>
        </p:nvSpPr>
        <p:spPr>
          <a:xfrm>
            <a:off x="381000" y="6887259"/>
            <a:ext cx="6705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12-07-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lang="en-US" sz="1000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lang="en-US" sz="100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lang="en-US" sz="1000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0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1000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1800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endParaRPr lang="en-US" sz="1800" spc="-20" dirty="0">
              <a:solidFill>
                <a:srgbClr val="7BC45F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039" y="1126744"/>
            <a:ext cx="1077163" cy="9442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000" y="1269237"/>
            <a:ext cx="4267200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50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FEATURES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685800" y="6934200"/>
            <a:ext cx="5410200" cy="437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12-07-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 </a:t>
            </a:r>
            <a:r>
              <a:rPr lang="en-US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lang="en-US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lang="en-US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lang="en-US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lang="en-US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endParaRPr lang="en-US" spc="-20" dirty="0">
              <a:solidFill>
                <a:srgbClr val="7BC45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508000">
              <a:lnSpc>
                <a:spcPts val="1045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30" dirty="0"/>
              <a:t>10</a:t>
            </a:fld>
            <a:endParaRPr spc="-3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DB27A0C-DDF8-0A25-87B4-6A1AC21E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710" y="2352321"/>
            <a:ext cx="833908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Accepts live road video through smartphone camera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detection of potholes and road surface cracks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model identifies and classifies road hazards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GPS-based tagging of detected hazard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map showing road hazard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Crowdsourced hazard data from multiple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warning alerts for approaching hazardous roads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Lightweight and user-friendly mobile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039" y="1126744"/>
            <a:ext cx="1077163" cy="9442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9905" y="1269237"/>
            <a:ext cx="5408295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50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CONCLUSION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81000" y="7086600"/>
            <a:ext cx="5105400" cy="437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12-07-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2025 </a:t>
            </a:r>
            <a:r>
              <a:rPr lang="en-US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SRI</a:t>
            </a:r>
            <a:r>
              <a:rPr lang="en-US" spc="1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SHAKTHI</a:t>
            </a:r>
            <a:r>
              <a:rPr lang="en-US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lang="en-US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lang="en-US" spc="-85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pc="-1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TECHNOLOGY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pc="-20" dirty="0">
                <a:solidFill>
                  <a:srgbClr val="7BC45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endParaRPr lang="en-US" spc="-20" dirty="0">
              <a:solidFill>
                <a:srgbClr val="7BC45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508000">
              <a:lnSpc>
                <a:spcPts val="1045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30" dirty="0"/>
              <a:t>11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846835" y="2971800"/>
            <a:ext cx="8509635" cy="282243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Road Hazard Detector provides an intelligent solution for real-time detection of road hazards.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potholes and surface cracks using computer vision and AI technologies.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integration enables accurate mapping of detected hazardous road locations.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hazard data keeps drivers informed about unsafe road conditions.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helps road authorities plan faster and more efficient maintenance.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project improves road safety and reduces accident risks.</a:t>
            </a:r>
          </a:p>
          <a:p>
            <a:pPr marL="355600" marR="5080" indent="-342900" algn="just">
              <a:lnSpc>
                <a:spcPct val="102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alt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the development of smarter and safer transportation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877" y="3459607"/>
            <a:ext cx="3846829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dirty="0"/>
              <a:t>THANK</a:t>
            </a:r>
            <a:r>
              <a:rPr sz="4450" spc="-170" dirty="0"/>
              <a:t> </a:t>
            </a:r>
            <a:r>
              <a:rPr sz="4450" spc="-10" dirty="0"/>
              <a:t>YOU!!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9158478" y="6355841"/>
            <a:ext cx="147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863</Words>
  <Application>Microsoft Office PowerPoint</Application>
  <PresentationFormat>Custom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Times New Roman</vt:lpstr>
      <vt:lpstr>Office Theme</vt:lpstr>
      <vt:lpstr>AI ROAD HAZARD DETECTOR</vt:lpstr>
      <vt:lpstr>AGENDA</vt:lpstr>
      <vt:lpstr>ABSTRACT</vt:lpstr>
      <vt:lpstr>PROBLEM STATEMENT</vt:lpstr>
      <vt:lpstr>WORKFLOW</vt:lpstr>
      <vt:lpstr>PowerPoint Presentation</vt:lpstr>
      <vt:lpstr>PowerPoint Presentation</vt:lpstr>
      <vt:lpstr>TECHNOLOGY USED</vt:lpstr>
      <vt:lpstr>TECHNOLOGY USED</vt:lpstr>
      <vt:lpstr>FEATURES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project</dc:title>
  <dc:creator>admin</dc:creator>
  <cp:lastModifiedBy>Vishnu Prasath</cp:lastModifiedBy>
  <cp:revision>3</cp:revision>
  <dcterms:created xsi:type="dcterms:W3CDTF">2025-04-12T03:30:00Z</dcterms:created>
  <dcterms:modified xsi:type="dcterms:W3CDTF">2026-01-31T04:51:25Z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2025-03-29T05:30:00Z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2025-04-12T05:30:00Z</vt:filetime>
  </property>
  <property fmtid="{D5CDD505-2E9C-101B-9397-08002B2CF9AE}" pid="5" name="Producer">
    <vt:lpwstr>Microsoft® Word 2021</vt:lpwstr>
  </property>
  <property fmtid="{D5CDD505-2E9C-101B-9397-08002B2CF9AE}" pid="6" name="ICV">
    <vt:lpwstr>C14A6305B30F408AB5891648EC336B90_12</vt:lpwstr>
  </property>
  <property fmtid="{D5CDD505-2E9C-101B-9397-08002B2CF9AE}" pid="7" name="KSOProductBuildVer">
    <vt:lpwstr>1033-12.2.0.20795</vt:lpwstr>
  </property>
</Properties>
</file>